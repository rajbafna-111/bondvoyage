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  <p:sldMasterId id="2147483708" r:id="rId2"/>
  </p:sldMasterIdLst>
  <p:sldIdLst>
    <p:sldId id="256" r:id="rId3"/>
    <p:sldId id="257" r:id="rId4"/>
    <p:sldId id="265" r:id="rId5"/>
    <p:sldId id="266" r:id="rId6"/>
    <p:sldId id="267" r:id="rId7"/>
    <p:sldId id="268" r:id="rId8"/>
    <p:sldId id="269" r:id="rId9"/>
    <p:sldId id="27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FA2C-8595-C9AF-7C67-CBA4B124F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9E958D-4948-C693-73E1-EE92719D1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B46AA-5E23-2EBF-9C6C-3DEDFE1D5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BC040-3CF9-A1B9-596C-6ABE48314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AC256-46DE-78FC-4A88-5C0DFBA27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83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CDB7F-F07F-41AE-4DC3-686EA91D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A06B2-91B8-DDFA-4238-F03DBB555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F0ED1-E875-F21C-9FEF-92BC2B1A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83AD2-DE8B-7409-3B07-6AAC849B9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77338-CBD4-DAA1-7D82-890E8525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36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9D53-0627-D713-AD58-ED1FF3B1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D94A7-8FB9-FFB0-63B2-AF2984215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8E9B2-AC2B-6170-D60B-79D1A6C1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25CDF-C32F-85BD-0A32-F6F86004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E1CA8-DBC5-7F34-7FE2-C9D10D04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98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DDF6-83E9-9312-8306-991976865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B2EA1-9833-A8DD-6DC5-B57C7484B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93D2A-9778-554D-6637-F170FD8B8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A520C-4470-1177-246D-B2704AF02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7AEBF-198F-00E0-C943-AA5244C8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C032A-3600-D459-930F-8217FEE95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14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7E023-7C9C-19F1-DB96-75EE4254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68BDB-7FEC-D405-DE06-CD6AD9971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F3627-4AC9-41F3-3716-3DA4D17EE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BEEB2-BEFC-7CDA-D00B-65BBFC2424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D873B-6151-3EB0-9986-1E35BDDE8F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AD061E-238E-6603-2E52-C96B882CE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39413-68FD-0143-915A-76E1DF14D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CE02A1-D0F5-E663-8390-418DBA61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26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69872-B757-C496-07A0-0843BC9C7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5E252-DE4D-0817-056E-BA9FA1A0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F8BAE-C618-4A6E-D93A-CF5C2D9B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840E8-0897-410F-490B-B27816C6A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59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554B20-D485-135A-5AD3-899ADEB94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7C50EF-88C7-D57B-98EA-5E7BC5F0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38BB5-5A75-ED6D-F534-2ED48688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C4355-1766-E6FE-1FA6-5EF3AFC4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49C45-AC4C-AB04-8DC0-EDA476DCC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EF90D-2A54-4FC3-E500-6DE7B65BE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66C05-6887-A721-B966-BF2AF4B2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1AC69-660E-0794-A5A7-1E46B2D0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DA13D-F4C8-6CDD-01DD-C174826DE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4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96A20-8357-BA9B-E05E-0BABEC2E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E290A2-FB53-EF0E-A896-28DE0F1EDB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678CE-E587-716C-A44B-2E639F7B0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8E108-1717-A08C-A715-30432E067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9C309-92E2-81D2-93D7-DDE1D6226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3B5F-8A97-CF23-8249-D8D93F2E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29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04AD9-131A-226E-64F9-89A4599D8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8C5B6-2BED-24D8-B9ED-FED676446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D87E6-CB74-E32F-01F6-9B735A3A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037E7-361F-8D42-867B-96FF6030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3C554-95E8-C124-F0E9-2F90227D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3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B1EE56-1CCB-ADB1-CFB0-4FB830119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B3435-173C-4B6F-9ADD-91D153957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913E2-60D5-364C-AF15-D2DDB3E7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D0AC2-1F99-F803-85AA-6BC773419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5CB10-3A7D-2B77-E5F7-1F7CE548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13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47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50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56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71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08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379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355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600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457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989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75604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33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534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94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756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9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D4502B-502B-C476-66C5-2919CC6E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2A5F9-D747-BD4F-D573-FD19AEDB6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00E77-D7A8-C8F5-8C04-B1105F60F0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793F8-F2C7-FEA8-297B-9A79409CC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F0B8E-7895-3CB2-B369-7F727367A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92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542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36" y="2457738"/>
            <a:ext cx="6556663" cy="1470025"/>
          </a:xfrm>
        </p:spPr>
        <p:txBody>
          <a:bodyPr anchor="ctr"/>
          <a:lstStyle/>
          <a:p>
            <a:pPr algn="ctr"/>
            <a:r>
              <a:rPr dirty="0" err="1">
                <a:latin typeface="Berlin Sans FB Demi" panose="020E0802020502020306" pitchFamily="34" charset="0"/>
              </a:rPr>
              <a:t>BondVoyage</a:t>
            </a:r>
            <a:endParaRPr dirty="0">
              <a:latin typeface="Berlin Sans FB Demi" panose="020E0802020502020306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736" y="3564647"/>
            <a:ext cx="6556664" cy="404680"/>
          </a:xfrm>
        </p:spPr>
        <p:txBody>
          <a:bodyPr>
            <a:normAutofit/>
          </a:bodyPr>
          <a:lstStyle/>
          <a:p>
            <a:pPr algn="ctr"/>
            <a:r>
              <a:rPr dirty="0">
                <a:latin typeface="Berlin Sans FB" panose="020E0602020502020306" pitchFamily="34" charset="0"/>
              </a:rPr>
              <a:t>A Travel Booking Management System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A49F712-7F52-5D01-8BD8-86ECC448B65D}"/>
              </a:ext>
            </a:extLst>
          </p:cNvPr>
          <p:cNvSpPr txBox="1">
            <a:spLocks/>
          </p:cNvSpPr>
          <p:nvPr/>
        </p:nvSpPr>
        <p:spPr>
          <a:xfrm>
            <a:off x="5694218" y="5988628"/>
            <a:ext cx="3356264" cy="7654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erlin Sans FB" panose="020E0602020502020306" pitchFamily="34" charset="0"/>
              </a:rPr>
              <a:t>Presented by: Raj Kumar Jain</a:t>
            </a:r>
          </a:p>
          <a:p>
            <a:r>
              <a:rPr lang="en-US" dirty="0">
                <a:latin typeface="Berlin Sans FB" panose="020E0602020502020306" pitchFamily="34" charset="0"/>
              </a:rPr>
              <a:t>BCA Final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0300" y="273053"/>
            <a:ext cx="6457950" cy="1325563"/>
          </a:xfrm>
          <a:ln>
            <a:noFill/>
          </a:ln>
        </p:spPr>
        <p:txBody>
          <a:bodyPr/>
          <a:lstStyle/>
          <a:p>
            <a:pPr algn="ctr"/>
            <a:r>
              <a:rPr b="1" dirty="0">
                <a:latin typeface="Bahnschrift SemiBold" panose="020B0502040204020203" pitchFamily="34" charset="0"/>
              </a:rPr>
              <a:t>Project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0300" y="1660961"/>
            <a:ext cx="6457950" cy="4923985"/>
          </a:xfrm>
          <a:ln>
            <a:noFill/>
          </a:ln>
        </p:spPr>
        <p:txBody>
          <a:bodyPr>
            <a:noAutofit/>
          </a:bodyPr>
          <a:lstStyle/>
          <a:p>
            <a:r>
              <a:rPr sz="1800" dirty="0">
                <a:latin typeface="Bahnschrift SemiBold SemiConden" panose="020B0502040204020203" pitchFamily="34" charset="0"/>
              </a:rPr>
              <a:t>Objective:</a:t>
            </a:r>
            <a:endParaRPr lang="en-US" sz="1800" dirty="0">
              <a:latin typeface="Bahnschrift SemiBold SemiConden" panose="020B0502040204020203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Bahnschrift SemiBold SemiConden" panose="020B0502040204020203" pitchFamily="34" charset="0"/>
              </a:rPr>
              <a:t>    - To develop a secure, scalable platform for travel booking and tour management.</a:t>
            </a:r>
          </a:p>
          <a:p>
            <a:endParaRPr sz="1800" dirty="0">
              <a:latin typeface="Bahnschrift SemiBold SemiConden" panose="020B0502040204020203" pitchFamily="34" charset="0"/>
            </a:endParaRPr>
          </a:p>
          <a:p>
            <a:r>
              <a:rPr sz="1800" dirty="0">
                <a:latin typeface="Bahnschrift SemiBold SemiConden" panose="020B0502040204020203" pitchFamily="34" charset="0"/>
              </a:rPr>
              <a:t>Problem Statement:</a:t>
            </a:r>
          </a:p>
          <a:p>
            <a:pPr marL="0" indent="0">
              <a:buNone/>
            </a:pPr>
            <a:r>
              <a:rPr lang="en-US" sz="1800" dirty="0">
                <a:latin typeface="Bahnschrift SemiBold SemiConden" panose="020B0502040204020203" pitchFamily="34" charset="0"/>
              </a:rPr>
              <a:t>    </a:t>
            </a:r>
            <a:r>
              <a:rPr sz="1800" dirty="0">
                <a:latin typeface="Bahnschrift SemiBold SemiConden" panose="020B0502040204020203" pitchFamily="34" charset="0"/>
              </a:rPr>
              <a:t>- Traditional systems lack real-time capacity checks, leading to overbooking.</a:t>
            </a:r>
          </a:p>
          <a:p>
            <a:endParaRPr sz="1800" dirty="0">
              <a:latin typeface="Bahnschrift SemiBold SemiConden" panose="020B0502040204020203" pitchFamily="34" charset="0"/>
            </a:endParaRPr>
          </a:p>
          <a:p>
            <a:r>
              <a:rPr sz="1800" dirty="0">
                <a:latin typeface="Bahnschrift SemiBold SemiConden" panose="020B0502040204020203" pitchFamily="34" charset="0"/>
              </a:rPr>
              <a:t>Solution:</a:t>
            </a:r>
          </a:p>
          <a:p>
            <a:pPr marL="0" indent="0">
              <a:buNone/>
            </a:pPr>
            <a:r>
              <a:rPr lang="en-US" sz="1800" dirty="0">
                <a:latin typeface="Bahnschrift SemiBold SemiConden" panose="020B0502040204020203" pitchFamily="34" charset="0"/>
              </a:rPr>
              <a:t>    </a:t>
            </a:r>
            <a:r>
              <a:rPr sz="1800" dirty="0">
                <a:latin typeface="Bahnschrift SemiBold SemiConden" panose="020B0502040204020203" pitchFamily="34" charset="0"/>
              </a:rPr>
              <a:t>- Users: </a:t>
            </a:r>
            <a:r>
              <a:rPr lang="en-US" sz="1800" dirty="0">
                <a:latin typeface="Bahnschrift SemiBold SemiConden" panose="020B0502040204020203" pitchFamily="34" charset="0"/>
              </a:rPr>
              <a:t>Easily </a:t>
            </a:r>
            <a:r>
              <a:rPr sz="1800" dirty="0">
                <a:latin typeface="Bahnschrift SemiBold SemiConden" panose="020B0502040204020203" pitchFamily="34" charset="0"/>
              </a:rPr>
              <a:t>search &amp; booking history.</a:t>
            </a:r>
          </a:p>
          <a:p>
            <a:pPr marL="0" indent="0">
              <a:buNone/>
            </a:pPr>
            <a:r>
              <a:rPr lang="en-US" sz="1800" dirty="0">
                <a:latin typeface="Bahnschrift SemiBold SemiConden" panose="020B0502040204020203" pitchFamily="34" charset="0"/>
              </a:rPr>
              <a:t>    </a:t>
            </a:r>
            <a:r>
              <a:rPr sz="1800" dirty="0">
                <a:latin typeface="Bahnschrift SemiBold SemiConden" panose="020B0502040204020203" pitchFamily="34" charset="0"/>
              </a:rPr>
              <a:t>- Admins: 'Command Center' dashboard for revenue &amp; inventory.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381A18-56F5-ED56-0B82-94F6D98A3D2B}"/>
              </a:ext>
            </a:extLst>
          </p:cNvPr>
          <p:cNvSpPr/>
          <p:nvPr/>
        </p:nvSpPr>
        <p:spPr>
          <a:xfrm>
            <a:off x="0" y="0"/>
            <a:ext cx="2057400" cy="685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C4697-296C-E36B-B479-6D885239939A}"/>
              </a:ext>
            </a:extLst>
          </p:cNvPr>
          <p:cNvSpPr txBox="1"/>
          <p:nvPr/>
        </p:nvSpPr>
        <p:spPr>
          <a:xfrm>
            <a:off x="0" y="125845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BondVoyage</a:t>
            </a:r>
            <a:endParaRPr lang="en-IN" sz="24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EF4D3B-4E74-910E-3514-A0DA1586DEE6}"/>
              </a:ext>
            </a:extLst>
          </p:cNvPr>
          <p:cNvSpPr txBox="1"/>
          <p:nvPr/>
        </p:nvSpPr>
        <p:spPr>
          <a:xfrm>
            <a:off x="0" y="775732"/>
            <a:ext cx="2057400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Project Briefing</a:t>
            </a:r>
            <a:endParaRPr lang="en-IN" sz="1400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442F3F-E2CB-DA49-08E3-70B8124F3263}"/>
              </a:ext>
            </a:extLst>
          </p:cNvPr>
          <p:cNvSpPr txBox="1"/>
          <p:nvPr/>
        </p:nvSpPr>
        <p:spPr>
          <a:xfrm>
            <a:off x="0" y="1114286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Tools &amp; Technology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CC72BC-BD84-4B0B-54D3-30133702378E}"/>
              </a:ext>
            </a:extLst>
          </p:cNvPr>
          <p:cNvSpPr txBox="1"/>
          <p:nvPr/>
        </p:nvSpPr>
        <p:spPr>
          <a:xfrm>
            <a:off x="0" y="1452800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ER Diagram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95F372-6142-BA70-C347-C9F1979752C1}"/>
              </a:ext>
            </a:extLst>
          </p:cNvPr>
          <p:cNvSpPr txBox="1"/>
          <p:nvPr/>
        </p:nvSpPr>
        <p:spPr>
          <a:xfrm>
            <a:off x="0" y="1791314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- 0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C1A3D0-48CB-C6F3-DBE4-B259343D8692}"/>
              </a:ext>
            </a:extLst>
          </p:cNvPr>
          <p:cNvSpPr txBox="1"/>
          <p:nvPr/>
        </p:nvSpPr>
        <p:spPr>
          <a:xfrm>
            <a:off x="0" y="2129868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- 1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14451-7AE6-1111-ACD8-96D3762AECD5}"/>
              </a:ext>
            </a:extLst>
          </p:cNvPr>
          <p:cNvSpPr txBox="1"/>
          <p:nvPr/>
        </p:nvSpPr>
        <p:spPr>
          <a:xfrm>
            <a:off x="0" y="2468342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- 2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22D0E-1DBF-2672-2317-C74FF4D6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055D-C8AE-73F4-319B-FE7421EDE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0" y="273053"/>
            <a:ext cx="6457950" cy="1325563"/>
          </a:xfrm>
          <a:ln>
            <a:noFill/>
          </a:ln>
        </p:spPr>
        <p:txBody>
          <a:bodyPr/>
          <a:lstStyle/>
          <a:p>
            <a:pPr algn="ctr"/>
            <a:r>
              <a:rPr lang="en-IN" b="1" dirty="0">
                <a:latin typeface="Bahnschrift SemiBold" panose="020B0502040204020203" pitchFamily="34" charset="0"/>
              </a:rPr>
              <a:t>Tools &amp; Technologies</a:t>
            </a:r>
            <a:endParaRPr b="1" dirty="0">
              <a:latin typeface="Bahnschrift SemiBol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871E8-2523-876B-593D-C0564622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0300" y="1660961"/>
            <a:ext cx="6457950" cy="4923985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1800" dirty="0">
                <a:latin typeface="Bahnschrift SemiBold SemiConden" panose="020B0502040204020203" pitchFamily="34" charset="0"/>
              </a:rPr>
              <a:t>Backend:</a:t>
            </a:r>
          </a:p>
          <a:p>
            <a:pPr marL="0" indent="0">
              <a:buNone/>
            </a:pPr>
            <a:r>
              <a:rPr lang="en-US" sz="1800" dirty="0">
                <a:latin typeface="Bahnschrift SemiBold SemiConden" panose="020B0502040204020203" pitchFamily="34" charset="0"/>
              </a:rPr>
              <a:t>    - Python &amp; Django (Core Logic)</a:t>
            </a:r>
          </a:p>
          <a:p>
            <a:pPr marL="0" indent="0">
              <a:buNone/>
            </a:pPr>
            <a:r>
              <a:rPr lang="en-US" sz="1800" dirty="0">
                <a:latin typeface="Bahnschrift SemiBold SemiConden" panose="020B0502040204020203" pitchFamily="34" charset="0"/>
              </a:rPr>
              <a:t>    - PostgreSQL (Database)</a:t>
            </a:r>
          </a:p>
          <a:p>
            <a:endParaRPr lang="en-US" sz="1800" dirty="0">
              <a:latin typeface="Bahnschrift SemiBold SemiConden" panose="020B0502040204020203" pitchFamily="34" charset="0"/>
            </a:endParaRPr>
          </a:p>
          <a:p>
            <a:r>
              <a:rPr lang="en-US" sz="1800" dirty="0">
                <a:latin typeface="Bahnschrift SemiBold SemiConden" panose="020B0502040204020203" pitchFamily="34" charset="0"/>
              </a:rPr>
              <a:t>Frontend:</a:t>
            </a:r>
          </a:p>
          <a:p>
            <a:pPr marL="0" indent="0">
              <a:buNone/>
            </a:pPr>
            <a:r>
              <a:rPr lang="en-US" sz="1800" dirty="0">
                <a:latin typeface="Bahnschrift SemiBold SemiConden" panose="020B0502040204020203" pitchFamily="34" charset="0"/>
              </a:rPr>
              <a:t>    - Bootstrap (Responsive UI)</a:t>
            </a:r>
          </a:p>
          <a:p>
            <a:pPr marL="0" indent="0">
              <a:buNone/>
            </a:pPr>
            <a:r>
              <a:rPr lang="en-US" sz="1800" dirty="0">
                <a:latin typeface="Bahnschrift SemiBold SemiConden" panose="020B0502040204020203" pitchFamily="34" charset="0"/>
              </a:rPr>
              <a:t>    - HTML / CSS</a:t>
            </a:r>
          </a:p>
          <a:p>
            <a:endParaRPr lang="en-US" sz="1800" dirty="0">
              <a:latin typeface="Bahnschrift SemiBold SemiConden" panose="020B0502040204020203" pitchFamily="34" charset="0"/>
            </a:endParaRPr>
          </a:p>
          <a:p>
            <a:r>
              <a:rPr lang="en-US" sz="1800" dirty="0">
                <a:latin typeface="Bahnschrift SemiBold SemiConden" panose="020B0502040204020203" pitchFamily="34" charset="0"/>
              </a:rPr>
              <a:t>Tools:</a:t>
            </a:r>
          </a:p>
          <a:p>
            <a:pPr marL="0" indent="0">
              <a:buNone/>
            </a:pPr>
            <a:r>
              <a:rPr lang="en-US" sz="1800" dirty="0">
                <a:latin typeface="Bahnschrift SemiBold SemiConden" panose="020B0502040204020203" pitchFamily="34" charset="0"/>
              </a:rPr>
              <a:t>    - Visual Studio Code Editor</a:t>
            </a:r>
          </a:p>
          <a:p>
            <a:pPr marL="0" indent="0">
              <a:buNone/>
            </a:pPr>
            <a:r>
              <a:rPr lang="en-US" sz="1800">
                <a:latin typeface="Bahnschrift SemiBold SemiConden" panose="020B0502040204020203" pitchFamily="34" charset="0"/>
              </a:rPr>
              <a:t>    - </a:t>
            </a:r>
            <a:r>
              <a:rPr lang="en-US" sz="1800" dirty="0">
                <a:latin typeface="Bahnschrift SemiBold SemiConden" panose="020B0502040204020203" pitchFamily="34" charset="0"/>
              </a:rPr>
              <a:t>Git &amp; GitHub (Version Control)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64EAE2-29F9-3E39-D0A6-EF4A7ED736B6}"/>
              </a:ext>
            </a:extLst>
          </p:cNvPr>
          <p:cNvSpPr/>
          <p:nvPr/>
        </p:nvSpPr>
        <p:spPr>
          <a:xfrm>
            <a:off x="0" y="0"/>
            <a:ext cx="2057400" cy="685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827893-0A47-FDF4-1FC8-897FE157C643}"/>
              </a:ext>
            </a:extLst>
          </p:cNvPr>
          <p:cNvSpPr/>
          <p:nvPr/>
        </p:nvSpPr>
        <p:spPr>
          <a:xfrm>
            <a:off x="0" y="0"/>
            <a:ext cx="2057400" cy="685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45CD4A-1221-FCB2-7EBD-8B525AE07B15}"/>
              </a:ext>
            </a:extLst>
          </p:cNvPr>
          <p:cNvSpPr txBox="1"/>
          <p:nvPr/>
        </p:nvSpPr>
        <p:spPr>
          <a:xfrm>
            <a:off x="0" y="775732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Berlin Sans FB" panose="020E0602020502020306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sz="1400" dirty="0">
                <a:latin typeface="Bahnschrift SemiBold SemiConden" panose="020B0502040204020203" pitchFamily="34" charset="0"/>
              </a:rPr>
              <a:t>Project Briefing</a:t>
            </a:r>
            <a:endParaRPr lang="en-IN" sz="1400" dirty="0">
              <a:latin typeface="Bahnschrift SemiBold SemiConden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1F14B-58FF-1EE6-DEA5-ABB0F47B0F74}"/>
              </a:ext>
            </a:extLst>
          </p:cNvPr>
          <p:cNvSpPr txBox="1"/>
          <p:nvPr/>
        </p:nvSpPr>
        <p:spPr>
          <a:xfrm>
            <a:off x="0" y="1114286"/>
            <a:ext cx="2057400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erlin Sans FB" panose="020E0602020502020306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sz="1400" dirty="0">
                <a:latin typeface="Bahnschrift SemiBold SemiConden" panose="020B0502040204020203" pitchFamily="34" charset="0"/>
              </a:rPr>
              <a:t>Tools &amp; Technology</a:t>
            </a:r>
            <a:endParaRPr lang="en-IN" sz="1400" dirty="0">
              <a:latin typeface="Bahnschrift SemiBold SemiConden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BF6A6-7A75-DE78-ABDC-F267C35BCD38}"/>
              </a:ext>
            </a:extLst>
          </p:cNvPr>
          <p:cNvSpPr txBox="1"/>
          <p:nvPr/>
        </p:nvSpPr>
        <p:spPr>
          <a:xfrm>
            <a:off x="0" y="1452800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ER Diagram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09D199-DA9D-D0F3-0673-E8F18145F2F4}"/>
              </a:ext>
            </a:extLst>
          </p:cNvPr>
          <p:cNvSpPr txBox="1"/>
          <p:nvPr/>
        </p:nvSpPr>
        <p:spPr>
          <a:xfrm>
            <a:off x="0" y="1791314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- 0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671A4-6E80-9D81-C4CA-7F9D02B708FE}"/>
              </a:ext>
            </a:extLst>
          </p:cNvPr>
          <p:cNvSpPr txBox="1"/>
          <p:nvPr/>
        </p:nvSpPr>
        <p:spPr>
          <a:xfrm>
            <a:off x="0" y="2129868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- 1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8580A4-FB5F-214C-8134-CB9BCBC87785}"/>
              </a:ext>
            </a:extLst>
          </p:cNvPr>
          <p:cNvSpPr txBox="1"/>
          <p:nvPr/>
        </p:nvSpPr>
        <p:spPr>
          <a:xfrm>
            <a:off x="0" y="2468342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- 2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C022A0-1BD4-4D9D-CF08-7787E04120B8}"/>
              </a:ext>
            </a:extLst>
          </p:cNvPr>
          <p:cNvSpPr txBox="1"/>
          <p:nvPr/>
        </p:nvSpPr>
        <p:spPr>
          <a:xfrm>
            <a:off x="0" y="125845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BondVoyage</a:t>
            </a:r>
            <a:endParaRPr lang="en-IN" sz="24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755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56DD-FA91-E158-9959-A39405938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273509-5752-EDB9-788D-34F4B2DC9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3512504"/>
            <a:ext cx="6457950" cy="31555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AB5B89-1A70-1A3A-24D1-2A0913D9A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565" y="273053"/>
            <a:ext cx="6634595" cy="1325563"/>
          </a:xfrm>
          <a:ln>
            <a:noFill/>
          </a:ln>
        </p:spPr>
        <p:txBody>
          <a:bodyPr/>
          <a:lstStyle/>
          <a:p>
            <a:pPr algn="ctr"/>
            <a:r>
              <a:rPr lang="en-IN" b="1" dirty="0">
                <a:latin typeface="Bahnschrift SemiBold" panose="020B0502040204020203" pitchFamily="34" charset="0"/>
              </a:rPr>
              <a:t>Entity-Relationship (E-R) Diagram</a:t>
            </a:r>
            <a:endParaRPr b="1" dirty="0">
              <a:latin typeface="Bahnschrift SemiBol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14811-0AFC-F44F-1FFF-225394B1D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0300" y="1505096"/>
            <a:ext cx="6457950" cy="4923985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Bahnschrift SemiBold SemiConden" panose="020B0502040204020203" pitchFamily="34" charset="0"/>
              </a:rPr>
              <a:t>Key Entities:</a:t>
            </a:r>
          </a:p>
          <a:p>
            <a:r>
              <a:rPr lang="en-US" sz="1800" dirty="0">
                <a:latin typeface="Bahnschrift SemiBold SemiConden" panose="020B0502040204020203" pitchFamily="34" charset="0"/>
              </a:rPr>
              <a:t>- User (Admin/Customer roles)</a:t>
            </a:r>
          </a:p>
          <a:p>
            <a:r>
              <a:rPr lang="en-US" sz="1800" dirty="0">
                <a:latin typeface="Bahnschrift SemiBold SemiConden" panose="020B0502040204020203" pitchFamily="34" charset="0"/>
              </a:rPr>
              <a:t>- Tour (Package details)</a:t>
            </a:r>
          </a:p>
          <a:p>
            <a:r>
              <a:rPr lang="en-US" sz="1800" dirty="0">
                <a:latin typeface="Bahnschrift SemiBold SemiConden" panose="020B0502040204020203" pitchFamily="34" charset="0"/>
              </a:rPr>
              <a:t>- </a:t>
            </a:r>
            <a:r>
              <a:rPr lang="en-US" sz="1800" dirty="0" err="1">
                <a:latin typeface="Bahnschrift SemiBold SemiConden" panose="020B0502040204020203" pitchFamily="34" charset="0"/>
              </a:rPr>
              <a:t>TourDate</a:t>
            </a:r>
            <a:r>
              <a:rPr lang="en-US" sz="1800" dirty="0">
                <a:latin typeface="Bahnschrift SemiBold SemiConden" panose="020B0502040204020203" pitchFamily="34" charset="0"/>
              </a:rPr>
              <a:t> (Capacity management)</a:t>
            </a:r>
          </a:p>
          <a:p>
            <a:r>
              <a:rPr lang="en-US" sz="1800" dirty="0">
                <a:latin typeface="Bahnschrift SemiBold SemiConden" panose="020B0502040204020203" pitchFamily="34" charset="0"/>
              </a:rPr>
              <a:t>- Booking (Links Users to Tours)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08C64-48C1-46FB-AEAD-E5F779967B23}"/>
              </a:ext>
            </a:extLst>
          </p:cNvPr>
          <p:cNvSpPr/>
          <p:nvPr/>
        </p:nvSpPr>
        <p:spPr>
          <a:xfrm>
            <a:off x="0" y="0"/>
            <a:ext cx="2057400" cy="685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695A1A-0011-1820-74AE-ED42130C55DB}"/>
              </a:ext>
            </a:extLst>
          </p:cNvPr>
          <p:cNvSpPr/>
          <p:nvPr/>
        </p:nvSpPr>
        <p:spPr>
          <a:xfrm>
            <a:off x="0" y="0"/>
            <a:ext cx="2057400" cy="685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B66C6C-EB43-7530-9C1E-B758A44D07A2}"/>
              </a:ext>
            </a:extLst>
          </p:cNvPr>
          <p:cNvSpPr txBox="1"/>
          <p:nvPr/>
        </p:nvSpPr>
        <p:spPr>
          <a:xfrm>
            <a:off x="0" y="775732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Berlin Sans FB" panose="020E0602020502020306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sz="1400" dirty="0">
                <a:latin typeface="Bahnschrift SemiBold SemiConden" panose="020B0502040204020203" pitchFamily="34" charset="0"/>
              </a:rPr>
              <a:t>Project Briefing</a:t>
            </a:r>
            <a:endParaRPr lang="en-IN" sz="1400" dirty="0">
              <a:latin typeface="Bahnschrift SemiBold SemiConden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F4DA7-47FD-4797-17D9-FCF5DD29C866}"/>
              </a:ext>
            </a:extLst>
          </p:cNvPr>
          <p:cNvSpPr txBox="1"/>
          <p:nvPr/>
        </p:nvSpPr>
        <p:spPr>
          <a:xfrm>
            <a:off x="0" y="1114286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Tools &amp; Technology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3FB252-39F3-543B-EA05-1CB007F7925D}"/>
              </a:ext>
            </a:extLst>
          </p:cNvPr>
          <p:cNvSpPr txBox="1"/>
          <p:nvPr/>
        </p:nvSpPr>
        <p:spPr>
          <a:xfrm>
            <a:off x="0" y="1452800"/>
            <a:ext cx="2057400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erlin Sans FB" panose="020E0602020502020306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sz="1400" dirty="0">
                <a:latin typeface="Bahnschrift SemiBold SemiConden" panose="020B0502040204020203" pitchFamily="34" charset="0"/>
              </a:rPr>
              <a:t>ER Diagram</a:t>
            </a:r>
            <a:endParaRPr lang="en-IN" sz="1400" dirty="0">
              <a:latin typeface="Bahnschrift SemiBold SemiConden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1D5C7D-4056-C1F5-EE1A-0F78CED57BCF}"/>
              </a:ext>
            </a:extLst>
          </p:cNvPr>
          <p:cNvSpPr txBox="1"/>
          <p:nvPr/>
        </p:nvSpPr>
        <p:spPr>
          <a:xfrm>
            <a:off x="0" y="1791314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- 0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727FB-5C77-A99D-D5AE-BBC488A34FED}"/>
              </a:ext>
            </a:extLst>
          </p:cNvPr>
          <p:cNvSpPr txBox="1"/>
          <p:nvPr/>
        </p:nvSpPr>
        <p:spPr>
          <a:xfrm>
            <a:off x="0" y="2129868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- 1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2EA014-168C-E9F7-2C86-E4CB01F2BFEC}"/>
              </a:ext>
            </a:extLst>
          </p:cNvPr>
          <p:cNvSpPr txBox="1"/>
          <p:nvPr/>
        </p:nvSpPr>
        <p:spPr>
          <a:xfrm>
            <a:off x="0" y="2468342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- 2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73E61B-6FBF-BE72-3826-920BE2D9D07E}"/>
              </a:ext>
            </a:extLst>
          </p:cNvPr>
          <p:cNvSpPr txBox="1"/>
          <p:nvPr/>
        </p:nvSpPr>
        <p:spPr>
          <a:xfrm>
            <a:off x="0" y="125845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BondVoyage</a:t>
            </a:r>
            <a:endParaRPr lang="en-IN" sz="24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732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8FCA0-9584-57B7-24C3-C2147F05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76511-06EC-7F6D-8FAE-399B4BE96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0" y="273053"/>
            <a:ext cx="6457950" cy="1325563"/>
          </a:xfrm>
          <a:ln>
            <a:noFill/>
          </a:ln>
        </p:spPr>
        <p:txBody>
          <a:bodyPr/>
          <a:lstStyle/>
          <a:p>
            <a:pPr algn="ctr"/>
            <a:r>
              <a:rPr lang="en-IN" b="1" dirty="0">
                <a:latin typeface="Bahnschrift SemiBold" panose="020B0502040204020203" pitchFamily="34" charset="0"/>
              </a:rPr>
              <a:t>Data Flow Diagram (DFD)</a:t>
            </a:r>
            <a:endParaRPr b="1" dirty="0">
              <a:latin typeface="Bahnschrift SemiBol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84E2F-7D45-E93A-5BBD-D095301DF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0300" y="1660961"/>
            <a:ext cx="6457950" cy="4923985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Bahnschrift SemiBold SemiConden" panose="020B0502040204020203" pitchFamily="34" charset="0"/>
              </a:rPr>
              <a:t>Data Flow:</a:t>
            </a:r>
          </a:p>
          <a:p>
            <a:r>
              <a:rPr lang="en-US" sz="1800" dirty="0">
                <a:latin typeface="Bahnschrift SemiBold SemiConden" panose="020B0502040204020203" pitchFamily="34" charset="0"/>
              </a:rPr>
              <a:t>1. Users input search &amp; booking requests.</a:t>
            </a:r>
          </a:p>
          <a:p>
            <a:r>
              <a:rPr lang="en-US" sz="1800" dirty="0">
                <a:latin typeface="Bahnschrift SemiBold SemiConden" panose="020B0502040204020203" pitchFamily="34" charset="0"/>
              </a:rPr>
              <a:t>2. System validates capacity &amp; calculates price.</a:t>
            </a:r>
          </a:p>
          <a:p>
            <a:r>
              <a:rPr lang="en-US" sz="1800" dirty="0">
                <a:latin typeface="Bahnschrift SemiBold SemiConden" panose="020B0502040204020203" pitchFamily="34" charset="0"/>
              </a:rPr>
              <a:t>3. Admin manages inventory &amp; approvals.</a:t>
            </a:r>
          </a:p>
          <a:p>
            <a:r>
              <a:rPr lang="en-US" sz="1800" dirty="0">
                <a:latin typeface="Bahnschrift SemiBold SemiConden" panose="020B0502040204020203" pitchFamily="34" charset="0"/>
              </a:rPr>
              <a:t>4. System outputs tickets &amp; revenue analytics.</a:t>
            </a:r>
          </a:p>
          <a:p>
            <a:pPr marL="0" indent="0">
              <a:buNone/>
            </a:pPr>
            <a:endParaRPr lang="en-US" sz="1800" dirty="0">
              <a:latin typeface="Bahnschrift SemiBold SemiConden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F7478D-7D88-FD07-7B18-02E05FAE354F}"/>
              </a:ext>
            </a:extLst>
          </p:cNvPr>
          <p:cNvSpPr/>
          <p:nvPr/>
        </p:nvSpPr>
        <p:spPr>
          <a:xfrm>
            <a:off x="0" y="0"/>
            <a:ext cx="2057400" cy="685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606974-1B8C-0EE6-BE51-FCE40A22D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1" y="3614056"/>
            <a:ext cx="6457950" cy="27109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2C0E219-CD8F-5274-B5BA-652C9F0B6545}"/>
              </a:ext>
            </a:extLst>
          </p:cNvPr>
          <p:cNvSpPr/>
          <p:nvPr/>
        </p:nvSpPr>
        <p:spPr>
          <a:xfrm>
            <a:off x="0" y="0"/>
            <a:ext cx="2057400" cy="685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713EA-FB0A-2987-1390-CC5997F62998}"/>
              </a:ext>
            </a:extLst>
          </p:cNvPr>
          <p:cNvSpPr txBox="1"/>
          <p:nvPr/>
        </p:nvSpPr>
        <p:spPr>
          <a:xfrm>
            <a:off x="0" y="775732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Berlin Sans FB" panose="020E0602020502020306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sz="1400" dirty="0">
                <a:latin typeface="Bahnschrift SemiBold SemiConden" panose="020B0502040204020203" pitchFamily="34" charset="0"/>
              </a:rPr>
              <a:t>Project Briefing</a:t>
            </a:r>
            <a:endParaRPr lang="en-IN" sz="1400" dirty="0">
              <a:latin typeface="Bahnschrift SemiBold SemiConden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5B961E-3B4C-2EE2-F318-FA2AA05CCFD1}"/>
              </a:ext>
            </a:extLst>
          </p:cNvPr>
          <p:cNvSpPr txBox="1"/>
          <p:nvPr/>
        </p:nvSpPr>
        <p:spPr>
          <a:xfrm>
            <a:off x="0" y="1114286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Tools &amp; Technology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5FB157-F88C-C1E3-A744-1B92766666E0}"/>
              </a:ext>
            </a:extLst>
          </p:cNvPr>
          <p:cNvSpPr txBox="1"/>
          <p:nvPr/>
        </p:nvSpPr>
        <p:spPr>
          <a:xfrm>
            <a:off x="0" y="1452800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ER Diagram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522D02-CAF4-D820-B5C1-85E3FA732489}"/>
              </a:ext>
            </a:extLst>
          </p:cNvPr>
          <p:cNvSpPr txBox="1"/>
          <p:nvPr/>
        </p:nvSpPr>
        <p:spPr>
          <a:xfrm>
            <a:off x="0" y="1791314"/>
            <a:ext cx="2057400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erlin Sans FB" panose="020E0602020502020306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sz="1400" dirty="0">
                <a:latin typeface="Bahnschrift SemiBold SemiConden" panose="020B0502040204020203" pitchFamily="34" charset="0"/>
              </a:rPr>
              <a:t>DFD Level - 0</a:t>
            </a:r>
            <a:endParaRPr lang="en-IN" sz="1400" dirty="0">
              <a:latin typeface="Bahnschrift SemiBold SemiConden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7C9986-32E4-29FF-BC36-D6250B9660DD}"/>
              </a:ext>
            </a:extLst>
          </p:cNvPr>
          <p:cNvSpPr txBox="1"/>
          <p:nvPr/>
        </p:nvSpPr>
        <p:spPr>
          <a:xfrm>
            <a:off x="0" y="2129868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- 1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2DA9DC-9386-7846-3383-1EFA7851ACA7}"/>
              </a:ext>
            </a:extLst>
          </p:cNvPr>
          <p:cNvSpPr txBox="1"/>
          <p:nvPr/>
        </p:nvSpPr>
        <p:spPr>
          <a:xfrm>
            <a:off x="0" y="2468342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- 2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4F4317-1747-7570-6621-3687B4B94F0C}"/>
              </a:ext>
            </a:extLst>
          </p:cNvPr>
          <p:cNvSpPr txBox="1"/>
          <p:nvPr/>
        </p:nvSpPr>
        <p:spPr>
          <a:xfrm>
            <a:off x="0" y="125845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BondVoyage</a:t>
            </a:r>
            <a:endParaRPr lang="en-IN" sz="24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320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0EC81-EAA3-0CBA-5373-B49F17956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D14-C36E-0017-B43D-4C87DB5F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0" y="273053"/>
            <a:ext cx="6457950" cy="1325563"/>
          </a:xfrm>
          <a:ln>
            <a:noFill/>
          </a:ln>
        </p:spPr>
        <p:txBody>
          <a:bodyPr/>
          <a:lstStyle/>
          <a:p>
            <a:pPr algn="ctr"/>
            <a:r>
              <a:rPr lang="en-IN" b="1" dirty="0">
                <a:latin typeface="Bahnschrift SemiBold" panose="020B0502040204020203" pitchFamily="34" charset="0"/>
              </a:rPr>
              <a:t>DFD - Level 1</a:t>
            </a:r>
            <a:endParaRPr b="1" dirty="0">
              <a:latin typeface="Bahnschrift SemiBold" panose="020B0502040204020203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C6337F-D125-457E-9D08-4D2B4072E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0691" y="1546221"/>
            <a:ext cx="6457950" cy="5133496"/>
          </a:xfrm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A65BDB1-A6B7-1EE9-1D29-2CC622006076}"/>
              </a:ext>
            </a:extLst>
          </p:cNvPr>
          <p:cNvSpPr/>
          <p:nvPr/>
        </p:nvSpPr>
        <p:spPr>
          <a:xfrm>
            <a:off x="0" y="0"/>
            <a:ext cx="2057400" cy="685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3E14C-9204-18E4-0932-63613568B06A}"/>
              </a:ext>
            </a:extLst>
          </p:cNvPr>
          <p:cNvSpPr/>
          <p:nvPr/>
        </p:nvSpPr>
        <p:spPr>
          <a:xfrm>
            <a:off x="0" y="0"/>
            <a:ext cx="2057400" cy="685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D3CA2-E4C9-BEF3-2A29-316D532C1B7C}"/>
              </a:ext>
            </a:extLst>
          </p:cNvPr>
          <p:cNvSpPr txBox="1"/>
          <p:nvPr/>
        </p:nvSpPr>
        <p:spPr>
          <a:xfrm>
            <a:off x="0" y="775732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Berlin Sans FB" panose="020E0602020502020306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sz="1400" dirty="0">
                <a:latin typeface="Bahnschrift SemiBold SemiConden" panose="020B0502040204020203" pitchFamily="34" charset="0"/>
              </a:rPr>
              <a:t>Project Briefing</a:t>
            </a:r>
            <a:endParaRPr lang="en-IN" sz="1400" dirty="0">
              <a:latin typeface="Bahnschrift SemiBold SemiConden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91950E-24B0-3FA0-420D-12848A2086B1}"/>
              </a:ext>
            </a:extLst>
          </p:cNvPr>
          <p:cNvSpPr txBox="1"/>
          <p:nvPr/>
        </p:nvSpPr>
        <p:spPr>
          <a:xfrm>
            <a:off x="0" y="1114286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Tools &amp; Technology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5CC62-934F-4D00-761A-B78E4C0C953B}"/>
              </a:ext>
            </a:extLst>
          </p:cNvPr>
          <p:cNvSpPr txBox="1"/>
          <p:nvPr/>
        </p:nvSpPr>
        <p:spPr>
          <a:xfrm>
            <a:off x="0" y="1452800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ER Diagram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2CFD1D-82EC-92C2-897C-DEC27CD9F99A}"/>
              </a:ext>
            </a:extLst>
          </p:cNvPr>
          <p:cNvSpPr txBox="1"/>
          <p:nvPr/>
        </p:nvSpPr>
        <p:spPr>
          <a:xfrm>
            <a:off x="0" y="1791314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- 0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65785-35FA-5686-4A50-47B0656D1B46}"/>
              </a:ext>
            </a:extLst>
          </p:cNvPr>
          <p:cNvSpPr txBox="1"/>
          <p:nvPr/>
        </p:nvSpPr>
        <p:spPr>
          <a:xfrm>
            <a:off x="0" y="2129868"/>
            <a:ext cx="2057400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erlin Sans FB" panose="020E0602020502020306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sz="1400" dirty="0">
                <a:latin typeface="Bahnschrift SemiBold SemiConden" panose="020B0502040204020203" pitchFamily="34" charset="0"/>
              </a:rPr>
              <a:t>DFD Level - 1</a:t>
            </a:r>
            <a:endParaRPr lang="en-IN" sz="1400" dirty="0">
              <a:latin typeface="Bahnschrift SemiBold SemiConden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7D3937-E510-58F3-2FC0-EB5AA1453E37}"/>
              </a:ext>
            </a:extLst>
          </p:cNvPr>
          <p:cNvSpPr txBox="1"/>
          <p:nvPr/>
        </p:nvSpPr>
        <p:spPr>
          <a:xfrm>
            <a:off x="0" y="2468342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- 2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1A193E-D1B2-2A3A-B0A7-9D7DAC702477}"/>
              </a:ext>
            </a:extLst>
          </p:cNvPr>
          <p:cNvSpPr txBox="1"/>
          <p:nvPr/>
        </p:nvSpPr>
        <p:spPr>
          <a:xfrm>
            <a:off x="0" y="125845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BondVoyage</a:t>
            </a:r>
            <a:endParaRPr lang="en-IN" sz="24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224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0252B-C679-BA32-8D45-46370E04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511C-007A-D41B-3268-7E603F27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0" y="273053"/>
            <a:ext cx="6457950" cy="1325563"/>
          </a:xfrm>
          <a:ln>
            <a:noFill/>
          </a:ln>
        </p:spPr>
        <p:txBody>
          <a:bodyPr/>
          <a:lstStyle/>
          <a:p>
            <a:pPr algn="ctr"/>
            <a:r>
              <a:rPr lang="en-IN" b="1" dirty="0">
                <a:latin typeface="Bahnschrift SemiBold" panose="020B0502040204020203" pitchFamily="34" charset="0"/>
              </a:rPr>
              <a:t>DFD - Level 2</a:t>
            </a:r>
            <a:endParaRPr b="1" dirty="0">
              <a:latin typeface="Bahnschrift SemiBold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752994-5558-5D98-55A9-D606CD837932}"/>
              </a:ext>
            </a:extLst>
          </p:cNvPr>
          <p:cNvSpPr/>
          <p:nvPr/>
        </p:nvSpPr>
        <p:spPr>
          <a:xfrm>
            <a:off x="0" y="0"/>
            <a:ext cx="2057400" cy="685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9A04F4B-18D4-D2D5-F3A4-F824FB6F9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8065" y="1598616"/>
            <a:ext cx="2982419" cy="4986337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EAA2A6D-6C4E-3D9B-F73F-EF1CB3C75061}"/>
              </a:ext>
            </a:extLst>
          </p:cNvPr>
          <p:cNvSpPr/>
          <p:nvPr/>
        </p:nvSpPr>
        <p:spPr>
          <a:xfrm>
            <a:off x="0" y="0"/>
            <a:ext cx="2057400" cy="685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4EEBB-482A-62E1-AA78-B221478EA082}"/>
              </a:ext>
            </a:extLst>
          </p:cNvPr>
          <p:cNvSpPr txBox="1"/>
          <p:nvPr/>
        </p:nvSpPr>
        <p:spPr>
          <a:xfrm>
            <a:off x="0" y="775732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Berlin Sans FB" panose="020E0602020502020306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sz="1400" dirty="0">
                <a:latin typeface="Bahnschrift SemiBold SemiConden" panose="020B0502040204020203" pitchFamily="34" charset="0"/>
              </a:rPr>
              <a:t>Project Briefing</a:t>
            </a:r>
            <a:endParaRPr lang="en-IN" sz="1400" dirty="0">
              <a:latin typeface="Bahnschrift SemiBold SemiConden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FA0AAE-2082-5E93-740E-03F2F053A81B}"/>
              </a:ext>
            </a:extLst>
          </p:cNvPr>
          <p:cNvSpPr txBox="1"/>
          <p:nvPr/>
        </p:nvSpPr>
        <p:spPr>
          <a:xfrm>
            <a:off x="0" y="1114286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Tools &amp; Technology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F2FAE-0E98-589D-1B42-6F509721C4BE}"/>
              </a:ext>
            </a:extLst>
          </p:cNvPr>
          <p:cNvSpPr txBox="1"/>
          <p:nvPr/>
        </p:nvSpPr>
        <p:spPr>
          <a:xfrm>
            <a:off x="0" y="1452800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ER Diagram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EFC659-2DDB-3F2E-0A58-2B478A00E3F7}"/>
              </a:ext>
            </a:extLst>
          </p:cNvPr>
          <p:cNvSpPr txBox="1"/>
          <p:nvPr/>
        </p:nvSpPr>
        <p:spPr>
          <a:xfrm>
            <a:off x="0" y="1791314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- 0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D15FAE-82AE-136E-474F-2A72705FEDD4}"/>
              </a:ext>
            </a:extLst>
          </p:cNvPr>
          <p:cNvSpPr txBox="1"/>
          <p:nvPr/>
        </p:nvSpPr>
        <p:spPr>
          <a:xfrm>
            <a:off x="0" y="2129868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DFD Level - 1</a:t>
            </a: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BB7436-CF1D-F8AE-CDF3-F873B2F66ABC}"/>
              </a:ext>
            </a:extLst>
          </p:cNvPr>
          <p:cNvSpPr txBox="1"/>
          <p:nvPr/>
        </p:nvSpPr>
        <p:spPr>
          <a:xfrm>
            <a:off x="0" y="2468342"/>
            <a:ext cx="2057400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erlin Sans FB" panose="020E0602020502020306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sz="1400" dirty="0">
                <a:latin typeface="Bahnschrift SemiBold SemiConden" panose="020B0502040204020203" pitchFamily="34" charset="0"/>
              </a:rPr>
              <a:t>DFD Level - 2</a:t>
            </a:r>
            <a:endParaRPr lang="en-IN" sz="1400" dirty="0">
              <a:latin typeface="Bahnschrift SemiBold SemiConden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6BD3A6-E9E7-7ED5-C30A-415C651B1D59}"/>
              </a:ext>
            </a:extLst>
          </p:cNvPr>
          <p:cNvSpPr txBox="1"/>
          <p:nvPr/>
        </p:nvSpPr>
        <p:spPr>
          <a:xfrm>
            <a:off x="0" y="125845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BondVoyage</a:t>
            </a:r>
            <a:endParaRPr lang="en-IN" sz="24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399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5EC77-44B1-904B-9BDD-ACF0074EF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6B435-48D6-C7F6-9799-15B8EA3CE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761" y="2207344"/>
            <a:ext cx="8598477" cy="1325563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latin typeface="Bahnschrift SemiBold" panose="020B0502040204020203" pitchFamily="34" charset="0"/>
              </a:rPr>
              <a:t>Thank You!</a:t>
            </a:r>
            <a:endParaRPr sz="4400" b="1" dirty="0">
              <a:latin typeface="Bahnschrift SemiBold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074719-B04A-15E3-695B-A7D3CAA7A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61" y="3221180"/>
            <a:ext cx="8598477" cy="834449"/>
          </a:xfrm>
        </p:spPr>
        <p:txBody>
          <a:bodyPr/>
          <a:lstStyle/>
          <a:p>
            <a:pPr algn="ctr"/>
            <a:r>
              <a:rPr dirty="0">
                <a:latin typeface="Bahnschrift SemiBold SemiConden" panose="020B0502040204020203" pitchFamily="34" charset="0"/>
              </a:rPr>
              <a:t>GitHub Repo:</a:t>
            </a:r>
          </a:p>
          <a:p>
            <a:pPr algn="ctr"/>
            <a:r>
              <a:rPr dirty="0">
                <a:latin typeface="Bahnschrift SemiBold SemiConden" panose="020B0502040204020203" pitchFamily="34" charset="0"/>
              </a:rPr>
              <a:t>https://github.com/</a:t>
            </a:r>
            <a:r>
              <a:rPr lang="en-US" dirty="0">
                <a:latin typeface="Bahnschrift SemiBold SemiConden" panose="020B0502040204020203" pitchFamily="34" charset="0"/>
              </a:rPr>
              <a:t>rajbafna_111</a:t>
            </a:r>
            <a:r>
              <a:rPr dirty="0">
                <a:latin typeface="Bahnschrift SemiBold SemiConden" panose="020B0502040204020203" pitchFamily="34" charset="0"/>
              </a:rPr>
              <a:t>/bondvoyage</a:t>
            </a:r>
          </a:p>
        </p:txBody>
      </p:sp>
    </p:spTree>
    <p:extLst>
      <p:ext uri="{BB962C8B-B14F-4D97-AF65-F5344CB8AC3E}">
        <p14:creationId xmlns:p14="http://schemas.microsoft.com/office/powerpoint/2010/main" val="595430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352</Words>
  <Application>Microsoft Office PowerPoint</Application>
  <PresentationFormat>On-screen Show (4:3)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Bahnschrift SemiBold</vt:lpstr>
      <vt:lpstr>Bahnschrift SemiBold SemiConden</vt:lpstr>
      <vt:lpstr>Berlin Sans FB</vt:lpstr>
      <vt:lpstr>Berlin Sans FB Demi</vt:lpstr>
      <vt:lpstr>Calibri</vt:lpstr>
      <vt:lpstr>Calibri Light</vt:lpstr>
      <vt:lpstr>Trebuchet MS</vt:lpstr>
      <vt:lpstr>Office Theme</vt:lpstr>
      <vt:lpstr>Berlin</vt:lpstr>
      <vt:lpstr>BondVoyage</vt:lpstr>
      <vt:lpstr>Project Briefing</vt:lpstr>
      <vt:lpstr>Tools &amp; Technologies</vt:lpstr>
      <vt:lpstr>Entity-Relationship (E-R) Diagram</vt:lpstr>
      <vt:lpstr>Data Flow Diagram (DFD)</vt:lpstr>
      <vt:lpstr>DFD - Level 1</vt:lpstr>
      <vt:lpstr>DFD - Level 2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Bafna</cp:lastModifiedBy>
  <cp:revision>12</cp:revision>
  <dcterms:created xsi:type="dcterms:W3CDTF">2013-01-27T09:14:16Z</dcterms:created>
  <dcterms:modified xsi:type="dcterms:W3CDTF">2026-01-05T14:52:14Z</dcterms:modified>
  <cp:category/>
</cp:coreProperties>
</file>